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T Sans Narrow"/>
      <p:regular r:id="rId20"/>
      <p:bold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Narrow-regular.fntdata"/><Relationship Id="rId22" Type="http://schemas.openxmlformats.org/officeDocument/2006/relationships/font" Target="fonts/OpenSans-regular.fntdata"/><Relationship Id="rId21" Type="http://schemas.openxmlformats.org/officeDocument/2006/relationships/font" Target="fonts/PTSansNarrow-bold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023c1fce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023c1fce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023c1fce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023c1fce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d706e573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d706e573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023c1fce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023c1fce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023c1fce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023c1fce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03b69642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203b69642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706e5739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706e5739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03b69642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03b69642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023c1fce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023c1fce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d706e5739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d706e5739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03b69642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03b69642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03b6964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203b6964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03b69642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203b69642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Depression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Simon Rupp, YongJae Lee, Aryavrat Gupta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 Statement: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Developing predictive model for depression symptoms using NHANES dataset features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Determining the most significant features that predict depression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Significance: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Identifying factors linked to depressive symptoms enhances our understanding of depression and informs more effective treatment strategies.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NHANES Dataset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Comprehensive health and nutrition examination survey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Features include: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Demographic data (Ex: gender, age)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Dietary data (Ex: nutrients in typical meal)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Examination data </a:t>
            </a:r>
            <a:r>
              <a:rPr lang="en"/>
              <a:t>(Ex: BMI, height)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Questionnaire</a:t>
            </a:r>
            <a:r>
              <a:rPr lang="en"/>
              <a:t> data (Ex: </a:t>
            </a:r>
            <a:r>
              <a:rPr lang="en"/>
              <a:t>physical</a:t>
            </a:r>
            <a:r>
              <a:rPr lang="en"/>
              <a:t> activity, sleep)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Target variable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Depression scores (PHQ-9 assessment)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8925" y="2669379"/>
            <a:ext cx="4117148" cy="22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PHQ-9 Scores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266325"/>
            <a:ext cx="4059000" cy="3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Score can range from 0-27 (9 questions with range 0-3)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Ex: “Little interest or pleasure in doing things?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0 - Not at 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1- Several days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2 - More than half the days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3 - Nearly every 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Score &gt;= 10 can be considering clinically significant depression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Large majority of our data is not depressed!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9166" y="778625"/>
            <a:ext cx="4571483" cy="35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Excluded </a:t>
            </a:r>
            <a:r>
              <a:rPr lang="en"/>
              <a:t>features</a:t>
            </a:r>
            <a:r>
              <a:rPr lang="en"/>
              <a:t> with a high degree of missingness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Handled missing values using various imputation strategies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(Experimented with mean, median, mode, and KNN) - mean most effective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Standardized and converted non-numeric columns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Ex: </a:t>
            </a:r>
            <a:r>
              <a:rPr lang="en"/>
              <a:t>Physical</a:t>
            </a:r>
            <a:r>
              <a:rPr lang="en"/>
              <a:t> activity, sleep times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Created balanced dataset for depression classification (avoid bias towards predicting not depressed)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Converted depression scores (0-27) into a binary classification (0-1)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0 if PHQ-9 score &lt; 10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1 if &gt;= 10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Approach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Models: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Logistic Regression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Support Vector Machine (SVM)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Random Forest Classifier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XGBoost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LightGBM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Stacking Classifier (logistic regression </a:t>
            </a:r>
            <a:r>
              <a:rPr lang="en"/>
              <a:t>on top</a:t>
            </a:r>
            <a:r>
              <a:rPr lang="en"/>
              <a:t> of the three algorithms)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Methods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Cross-validation approach: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5-fold cross-validation to ensure reliable performance estimates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Reduces impact of random sampling variations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More reliable than single train-test split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Comprehensive metrics: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Also did train-test split: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romanLcPeriod"/>
            </a:pPr>
            <a:r>
              <a:rPr lang="en"/>
              <a:t>Precision: Accuracy of positive predictions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romanLcPeriod"/>
            </a:pPr>
            <a:r>
              <a:rPr lang="en"/>
              <a:t>Recall: Ability to identify actual positive cases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romanLcPeriod"/>
            </a:pPr>
            <a:r>
              <a:rPr lang="en"/>
              <a:t>F1-score: Balanced measure of precision and recall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romanLcPeriod"/>
            </a:pPr>
            <a:r>
              <a:rPr lang="en"/>
              <a:t>Ensures model isn't biased toward either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50" y="1373350"/>
            <a:ext cx="7526624" cy="261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en"/>
              <a:t>Stacked Model (74.41%): Best performance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Char char="○"/>
            </a:pPr>
            <a:r>
              <a:rPr lang="en"/>
              <a:t>Leverages strengths of multiple models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Char char="○"/>
            </a:pPr>
            <a:r>
              <a:rPr lang="en"/>
              <a:t>Reduces individual model biases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Char char="○"/>
            </a:pPr>
            <a:r>
              <a:rPr lang="en"/>
              <a:t>Better handles feature complexity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en"/>
              <a:t>XGBoost (74.33%): Second-best performer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Char char="○"/>
            </a:pPr>
            <a:r>
              <a:rPr lang="en"/>
              <a:t>Gradient boosting excels at:</a:t>
            </a:r>
            <a:endParaRPr/>
          </a:p>
          <a:p>
            <a:pPr indent="-287972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Char char="■"/>
            </a:pPr>
            <a:r>
              <a:rPr lang="en"/>
              <a:t>Handling non-linear relationships</a:t>
            </a:r>
            <a:endParaRPr/>
          </a:p>
          <a:p>
            <a:pPr indent="-287972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Char char="■"/>
            </a:pPr>
            <a:r>
              <a:rPr lang="en"/>
              <a:t>Managing complex feature interactions</a:t>
            </a:r>
            <a:endParaRPr/>
          </a:p>
          <a:p>
            <a:pPr indent="-287972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Char char="■"/>
            </a:pPr>
            <a:r>
              <a:rPr lang="en"/>
              <a:t>Robust to outliers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en"/>
              <a:t>Logistic Regression (71.58%) &amp; SVM (71.35%): Lower performance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Char char="○"/>
            </a:pPr>
            <a:r>
              <a:rPr lang="en"/>
              <a:t>Limitations due to:</a:t>
            </a:r>
            <a:endParaRPr/>
          </a:p>
          <a:p>
            <a:pPr indent="-287972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Char char="■"/>
            </a:pPr>
            <a:r>
              <a:rPr lang="en"/>
              <a:t>Complex non-linear relationships in data</a:t>
            </a:r>
            <a:endParaRPr/>
          </a:p>
          <a:p>
            <a:pPr indent="-287972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Char char="■"/>
            </a:pPr>
            <a:r>
              <a:rPr lang="en"/>
              <a:t>High feature dimensionality</a:t>
            </a:r>
            <a:endParaRPr/>
          </a:p>
          <a:p>
            <a:pPr indent="-287972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8571"/>
              <a:buFont typeface="Arial"/>
              <a:buChar char="■"/>
            </a:pPr>
            <a:r>
              <a:rPr lang="en"/>
              <a:t>Possible need for more feature engineering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in Prediction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Overall accuracy (~74%) reflects real-world complexity of depression prediction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Key limiting factors: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n" sz="1600"/>
              <a:t>Questionnaire data subjectivity</a:t>
            </a:r>
            <a:endParaRPr sz="16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n" sz="1600"/>
              <a:t>D</a:t>
            </a:r>
            <a:r>
              <a:rPr lang="en" sz="1600"/>
              <a:t>ata imbalance leading to l</a:t>
            </a:r>
            <a:r>
              <a:rPr lang="en" sz="1600"/>
              <a:t>imited dataset size (~1,300 samples)</a:t>
            </a:r>
            <a:endParaRPr sz="16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n" sz="1600"/>
              <a:t>High feature missingness requiring exclusion and imputation</a:t>
            </a:r>
            <a:endParaRPr sz="16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n" sz="1600"/>
              <a:t>Complex, multifaceted nature of depression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Importance</a:t>
            </a:r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850" y="1152425"/>
            <a:ext cx="7633010" cy="361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Importance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Most significant predictors align with clinical understanding: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Sleep patterns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Physical activity levels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Demographics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Dietary habits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Clinical relevance: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Features align with known depression risk factors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Provides validation of model's learning process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Supports potential for clinical application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</a:t>
            </a:r>
            <a:r>
              <a:rPr lang="en"/>
              <a:t>eveloped moderately successful predictive model for depression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Achieved consistent performance across multiple algorithms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Identified clinically relevant predictive features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Established robust evaluation framework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Directions</a:t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Data Enhancement: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Larger dataset collection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Additional feature engineering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Improved missing data handling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Model Improvements: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Advanced ensemble methods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Deep learning approaches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/>
              <a:t>Causal analysis implementation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